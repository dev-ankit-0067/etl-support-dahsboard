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207008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OpsGuardian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CBD5E1"/>
                </a:solidFill>
                <a:latin typeface="Calibri"/>
              </a:rPr>
              <a:t>ETL Production Support &amp; Cost Insights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3C5FD"/>
                </a:solidFill>
                <a:latin typeface="Calibri"/>
              </a:rPr>
              <a:t>End-User Guide — Features &amp; How to Use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77639"/>
            <a:ext cx="3383280" cy="9601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Is anything broken right now, and where?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977639"/>
            <a:ext cx="3383280" cy="9601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Who is working on what, and what is the customer impact?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977639"/>
            <a:ext cx="3383280" cy="9601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E2E8F0"/>
                </a:solidFill>
                <a:latin typeface="Calibri"/>
              </a:rPr>
              <a:t>Are we within our cost envelope?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Calibri"/>
              </a:rPr>
              <a:t>A single pane of glass for pipeline health, incidents, root-cause analysis, and cloud cost — with an AI assistant that reads your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1722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Document version 1.0  ·  Audience: dashboard end users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What is OpsGuardian?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One dashboard to operate your AWS ETL pipelines, their incidents, and their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ABOUT THE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11064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OpsGuardian </a:t>
            </a:r>
            <a:r>
              <a:rPr sz="1500" b="0" i="0">
                <a:solidFill>
                  <a:srgbClr val="475569"/>
                </a:solidFill>
                <a:latin typeface="Calibri"/>
              </a:rPr>
              <a:t>is an enterprise web dashboard for the teams operating AWS-based ETL pipelines. It brings operational telemetry (Glue, Lambda, EMR, EMR Serverless, S3) together with incident records from your IT service-management tool, so one team can answer three questions: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110642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475569"/>
                </a:solidFill>
                <a:latin typeface="Calibri"/>
              </a:rPr>
              <a:t>Single pane of glass — pipeline health, live runs, incidents and cost in one place.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Full ETL stack — AWS Glue, Lambda, EMR, EMR Serverless, plus custom S3 log sources.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Incidents alongside pipelines — Jira / ServiceNow records linked to the runs that caused them.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Built-in AI agent — reads CloudWatch logs, produces a structured root-cause analysis (RCA), and opens incident tickets for you.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Project-scoped — one selector filters every page to the business project you care about.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4500"/>
            </a:avLst>
          </a:prstGeom>
          <a:solidFill>
            <a:srgbClr val="EFF4FE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300" b="1">
                <a:solidFill>
                  <a:srgbClr val="1D4ED8"/>
                </a:solidFill>
                <a:latin typeface="Calibri"/>
              </a:rPr>
              <a:t>Read-only by design (v1):  </a:t>
            </a:r>
            <a:r>
              <a:rPr sz="1300">
                <a:solidFill>
                  <a:srgbClr val="334155"/>
                </a:solidFill>
                <a:latin typeface="Calibri"/>
              </a:rPr>
              <a:t>view, analyze and create incident tickets from the UI — no destructive actions, so it is always safe to use during an outage.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Who is it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Four roles use OpsGuardian every day — the same pages serve all of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AUDIENCE &amp;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93976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On-call / support engineer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221991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Daily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93976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Triage failed runs, view logs, run AI analysis, open an incident ticket — without leaving the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90088"/>
            <a:ext cx="11064240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18104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SRE / platform lead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246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Weekly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18104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Review P1/P2 trends, hot pipelines, and repeat failures; hand off findings with ticket links.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14216"/>
            <a:ext cx="11064240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Engineering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427024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Daily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142232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Health snapshot before stand-up; project-level KPIs in seconds.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38344"/>
            <a:ext cx="11064240" cy="868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3063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FinOps / finance partner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529437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D4ED8"/>
                </a:solidFill>
                <a:latin typeface="Calibri"/>
              </a:rPr>
              <a:t>Monthly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166360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Cost review: spend-to-date vs. forecast vs. budget, with per-service drill-down.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Benefits: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faster incident triage · project-aligned views · predictable spend · no raw cloud credentials on your machine · every read is scoped to your project and audited.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Accessing the dashboard &amp; signing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Getting started takes less than a minute.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GETTING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883664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Open the URL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Use the link provided by your platform team (modern Chrome, Edge, Firefox, or Safari).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99232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62656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Sign in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Enter your corporate username and password on the login screen. In provisioned environments the default user is admin / OpsG@123 — your administrator will give you your credentials and should rotate the default.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41648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Start exploring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You land on the Executive Overview. Pick your project from the top bar, then open any page from the left sidebar.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Your session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Tokens refresh automatically in the background. If your session expires you are returned to the login screen with a “Session expired” notice — just sign in again. Use </a:t>
            </a:r>
            <a:r>
              <a:rPr sz="1300" b="1" i="0">
                <a:solidFill>
                  <a:srgbClr val="334155"/>
                </a:solidFill>
                <a:latin typeface="Calibri"/>
              </a:rPr>
              <a:t>Sign out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(top-right) when you are done, especially on shared machines.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The dashboard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A consistent layout on every page — learn it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NAVIGATION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OpsGuardian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3C5FD"/>
                </a:solidFill>
                <a:latin typeface="Calibri"/>
              </a:rPr>
              <a:t>Sidebar —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718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Executive Overview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0215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Incident Center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3250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Cost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892040"/>
            <a:ext cx="1554480" cy="6858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 · Navigate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Switch pages from the sidebar.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1874519"/>
            <a:ext cx="8869680" cy="868680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99339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Top bar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2212848"/>
            <a:ext cx="274320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Projects:   All Projects  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2212848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334155"/>
                </a:solidFill>
                <a:latin typeface="Calibri"/>
              </a:rPr>
              <a:t>Search   ⌘K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212848"/>
            <a:ext cx="23317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334155"/>
                </a:solidFill>
                <a:latin typeface="Calibri"/>
              </a:rPr>
              <a:t>signed-in user  · Sign 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971800"/>
            <a:ext cx="88696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017520" y="3246120"/>
            <a:ext cx="8321040" cy="548640"/>
          </a:xfrm>
          <a:prstGeom prst="roundRect">
            <a:avLst>
              <a:gd name="adj" fmla="val 18000"/>
            </a:avLst>
          </a:prstGeom>
          <a:solidFill>
            <a:srgbClr val="EF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3291840"/>
            <a:ext cx="79552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D4ED8"/>
                </a:solidFill>
                <a:latin typeface="Calibri"/>
              </a:rPr>
              <a:t>Page content — KPI tiles, charts, tables and action buttons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02336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160520"/>
            <a:ext cx="2286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KPI tiles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Headline numbers for the page (e.g. healthy vs. failed).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023360"/>
            <a:ext cx="5532120" cy="14630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416052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0F172A"/>
                </a:solidFill>
                <a:latin typeface="Calibri"/>
              </a:rPr>
              <a:t>Tables &amp; charts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Rows expand for detail; buttons run actions such as Analyze logs or Log Jira ticket.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6035040"/>
            <a:ext cx="8869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2 ·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Project bar: filters every page.   3 ·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Header tools: search/⌘K command palette.   4 · </a:t>
            </a:r>
            <a:r>
              <a:rPr sz="1250" b="0" i="0">
                <a:solidFill>
                  <a:srgbClr val="334155"/>
                </a:solidFill>
                <a:latin typeface="Calibri"/>
              </a:rPr>
              <a:t>User menu: who is signed in + Sign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Global controls: project filter &amp; command palette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Two tools shape everything you see.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WORKING ACROSS THE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1 · Choose your project (top bar, centered)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Pick one project (e.g. a business unit) or “All Projects” to see everything you have access to.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A project maps to the relevant AWS accounts, its Jira / ServiceNow projects, and its own log location — you never need to know those details.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Changing the project reloads every page automatically (a brief loading overlay appears); always check you are on the right project before reporting an issue.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72A"/>
                </a:solidFill>
                <a:latin typeface="Calibri"/>
              </a:rPr>
              <a:t>2 · Command palette (Search box or ⌘K / Ctrl+K)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Type to fuzzy-search — jump straight to a page, an incident, or a job by name.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5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475569"/>
                </a:solidFill>
                <a:latin typeface="Calibri"/>
              </a:rPr>
              <a:t>Actions: Refresh dashboard data (re-fetches everything — the first thing to try when something looks stale) and Sign out.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4500"/>
            </a:avLst>
          </a:prstGeom>
          <a:solidFill>
            <a:srgbClr val="EFF4FE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879592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  <a:latin typeface="Calibri"/>
              </a:rPr>
              <a:t>Tip: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start each working session by selecting the correct project, then use ⌘K to navigate quickly.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Pipeline health and live runs for five resource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FEATURE 1 — EXECUTIVE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475569"/>
                </a:solidFill>
                <a:latin typeface="Calibri"/>
              </a:rPr>
              <a:t>Resource selector (top of the page) — switch between AWS Glue (default), Lambda, EMR, EMR Serverless and S3 log files; the KPIs and the run table follow the selected service.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KPI tiles — Total Jobs / Healthy Jobs / Failed Jobs (labels adapt to Functions, Clusters, Applications, Log Files).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Runs table — name, status, start/end time, duration, cost per run and a Ticket link. Statuses are colour-coded: Running (blue), Success (green), Failed (red), Delayed (amber), Timed Out, Waiting.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Date filter — narrow the table to Today / 7 / 30 / 60 / 90 days.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Expand any row — recent-run history with success rate, average duration, total cost and per-run actions (next slide).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1064240" cy="1874519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What to look at first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334155"/>
                </a:solidFill>
                <a:latin typeface="Calibri"/>
              </a:rPr>
              <a:t>Failed / error tiles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— any red means something needs attention right now.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334155"/>
                </a:solidFill>
                <a:latin typeface="Calibri"/>
              </a:rPr>
              <a:t>Ticket column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— shows the incident ticket when one already exists for that run; click to open it in Jira / ServiceNow.</a:t>
            </a:r>
          </a:p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334155"/>
                </a:solidFill>
                <a:latin typeface="Calibri"/>
              </a:rPr>
              <a:t>S3 view 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— lists the project’s log files (Run ID, last modified, size) with the same AI actions per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Investigating a failing run: logs, AI analysis &amp;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Every run row offers three actions for quick triage.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FEATURE 2 — AI LOG ANALYSIS &amp; INCIDENT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361188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Analyze logs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Opens a live log viewer for that run (CloudWatch). Logs auto-refresh every ~5 s while open. You can copy or download the log text, or run the AI actions from inside the viewer.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965960"/>
            <a:ext cx="361188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24028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RCA Analysis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The AI agent reads the run’s logs and returns a structured root-cause analysis: Summary · Severity (P1–P4) · Root cause · Affected component · Remediation · Details with log excerpts.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965960"/>
            <a:ext cx="3611880" cy="2148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24028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Calibri"/>
              </a:rPr>
              <a:t>Log Jira ticket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Runs the same analysis, then creates an incident ticket in Jira (or ServiceNow, depending on your setup — the button label adapts) and returns the ticket key, e.g. SCRUM-108.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475569"/>
                </a:solidFill>
                <a:latin typeface="Calibri"/>
              </a:rPr>
              <a:t>How it works — with one click the AI agent fetches the run’s logs itself, analyzes them with an LLM, and (optionally) files the ticket — you never paste log text anywhere.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Once a ticket exists for a run, its buttons change to “Ticket Logged” and stay disabled — no duplicate tickets — and the Ticket column links you straight into Jira / ServiceNow.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23560"/>
            <a:ext cx="110642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34155"/>
                </a:solidFill>
                <a:latin typeface="Calibri"/>
              </a:rPr>
              <a:t>Severity guide — </a:t>
            </a:r>
            <a:r>
              <a:rPr sz="1250" b="0" i="0">
                <a:solidFill>
                  <a:srgbClr val="475569"/>
                </a:solidFill>
                <a:latin typeface="Calibri"/>
              </a:rPr>
              <a:t>P1 data loss / pipeline down  ·  P2 significant degradation  ·  P3 non-critical warning  ·  P4 informational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Incident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Every open incident across your project, with context to act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FEATURE 3 — INCIDENT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106424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475569"/>
                </a:solidFill>
                <a:latin typeface="Calibri"/>
              </a:rPr>
              <a:t>Incident KPIs — counts of open incidents by severity (P1, P2, P3, P4) for the selected project.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Charts — Incidents by Status (donut) and Open Incidents by Priority (bar) summarize the list at a glance.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Active Incidents table — key, summary, priority, status, assignee and creation date; filter by All / Today / 7 / 30 days.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Ticket links — click an incident key to open the full ticket in Jira / ServiceNow in a new tab.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Expand any row — key findings, the stored AI root-cause analysis, and the incident’s real status-change timeline (current status only when no history exists — nothing is fabricated).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Recommended rhythm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Calibri"/>
              </a:rPr>
              <a:t>1. Pick your project and start with P1s.   2. Expand a row to read the RCA and key findings before escalating.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3. Use the timeline to see what changed and when.   4. Open the full ticket for ownership and updates, then keep the dashboard open while you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Cost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Month-to-date spend, forecast, and budget — no spreadsheets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FEATURE 4 — COST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5486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475569"/>
                </a:solidFill>
                <a:latin typeface="Calibri"/>
              </a:rPr>
              <a:t>Five KPI tiles — hover any tile’s info icon for its definition: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Total Cost (month-to-date)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Last Month — same period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Forecast (expected month-end total)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Last Month Total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Budget Consumed — colour-coded: green &lt; 75%, amber 75–90%, red ≥ 90%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Deltas show the trend vs. the comparable period (e.g. +12% vs. last month).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303520" cy="32004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754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0F172A"/>
                </a:solidFill>
                <a:latin typeface="Calibri"/>
              </a:rPr>
              <a:t>Cost per Service chart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Line chart of daily cost across your project’s services (Glue, Lambda, Total).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Use the two selectors to change the view: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Service  — All / Glue / Lambda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Window  — 7 / 30 / 60 / 90 days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Spot spikes early, confirm the driver (service + day), and use the numbers in budget reviews — all figures come from AWS Cost Explorer and AWS Budgets.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4500"/>
            </a:avLst>
          </a:prstGeom>
          <a:solidFill>
            <a:srgbClr val="EFF4FE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D4ED8"/>
                </a:solidFill>
                <a:latin typeface="Calibri"/>
              </a:rPr>
              <a:t>Note: 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cost figures come from AWS Cost Explorer and update every few hours (an AWS constraint) — treat them as same-day accurate rather than real-time. Forecast tiles give an early warning when you risk exceeding budget.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How fresh is the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Each data source refreshes on its own cadence.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UNDERSTANDING THE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1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Live runs, job status &amp;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24027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4ED8"/>
                </a:solidFill>
                <a:latin typeface="Calibri"/>
              </a:rPr>
              <a:t>~30–60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84831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Run tables and the log viewer refresh on a short cache; the log viewer also auto-refreshes every ~5 s while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44952"/>
            <a:ext cx="110642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63824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KPIs &amp; histories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19272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4ED8"/>
                </a:solidFill>
                <a:latin typeface="Calibri"/>
              </a:rPr>
              <a:t>~5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63824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Headline tiles, incident summaries and run histories are cached briefly to keep pages fast under load.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23944"/>
            <a:ext cx="11064240" cy="914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42816"/>
            <a:ext cx="3291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Cost &amp; budget figures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439826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EFF4F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4ED8"/>
                </a:solidFill>
                <a:latin typeface="Calibri"/>
              </a:rPr>
              <a:t>Up to a few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242816"/>
            <a:ext cx="5394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AWS Cost Explorer data is itself delayed — this is expected and applies to every cost tool on AWS.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Something looks stale? Press ⌘K → Refresh dashboard data, or switch the project away and back.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475569"/>
                </a:solidFill>
                <a:latin typeface="Calibri"/>
              </a:rPr>
              <a:t>If a source is unreachable the page stays usable — you may see a warning banner with a Retry button, or a note that data may be a few minutes old. Other sections keep working.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Three everyday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Step-by-step recipes for the most common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HOW-TO — QUICK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36118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A pipeline failed — handle it end-to-end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175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944368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Pick your project in the top bar.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584448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844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11296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Executive Overview → Glue (or the resource that failed).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242816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4281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69663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Find the red Failed row and expand it.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809744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09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36592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Analyze logs to see what happened → RCA Analysis for the root cause.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468112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6811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94959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Log Jira ticket — share the ticket key/link with the team.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1965960"/>
            <a:ext cx="36118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219456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Morning stand-up health check</a:t>
            </a:r>
          </a:p>
        </p:txBody>
      </p:sp>
      <p:sp>
        <p:nvSpPr>
          <p:cNvPr id="32" name="Oval 31"/>
          <p:cNvSpPr/>
          <p:nvPr/>
        </p:nvSpPr>
        <p:spPr>
          <a:xfrm>
            <a:off x="4507992" y="30175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301752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2944368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Open Executive Overview and read the three KPI tiles.</a:t>
            </a:r>
          </a:p>
        </p:txBody>
      </p:sp>
      <p:sp>
        <p:nvSpPr>
          <p:cNvPr id="35" name="Oval 34"/>
          <p:cNvSpPr/>
          <p:nvPr/>
        </p:nvSpPr>
        <p:spPr>
          <a:xfrm>
            <a:off x="4507992" y="3675887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36758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5192" y="3602735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Open Incident Center; note new P1/P2s since yesterday (Today filter).</a:t>
            </a:r>
          </a:p>
        </p:txBody>
      </p:sp>
      <p:sp>
        <p:nvSpPr>
          <p:cNvPr id="38" name="Oval 37"/>
          <p:cNvSpPr/>
          <p:nvPr/>
        </p:nvSpPr>
        <p:spPr>
          <a:xfrm>
            <a:off x="4507992" y="4334255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7992" y="433425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5192" y="4261103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Expand each P1/P2 to read the RCA before the call.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0144" y="1965960"/>
            <a:ext cx="361188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10144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2194560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Month-end cost review</a:t>
            </a:r>
          </a:p>
        </p:txBody>
      </p:sp>
      <p:sp>
        <p:nvSpPr>
          <p:cNvPr id="44" name="Oval 43"/>
          <p:cNvSpPr/>
          <p:nvPr/>
        </p:nvSpPr>
        <p:spPr>
          <a:xfrm>
            <a:off x="8238744" y="3017520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8744" y="301752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95944" y="2944368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Open Cost Insights for the project.</a:t>
            </a:r>
          </a:p>
        </p:txBody>
      </p:sp>
      <p:sp>
        <p:nvSpPr>
          <p:cNvPr id="47" name="Oval 46"/>
          <p:cNvSpPr/>
          <p:nvPr/>
        </p:nvSpPr>
        <p:spPr>
          <a:xfrm>
            <a:off x="8238744" y="3584448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8744" y="35844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95944" y="3511296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Compare MTD vs. last-month-same-period and check Forecast vs. Budget.</a:t>
            </a:r>
          </a:p>
        </p:txBody>
      </p:sp>
      <p:sp>
        <p:nvSpPr>
          <p:cNvPr id="50" name="Oval 49"/>
          <p:cNvSpPr/>
          <p:nvPr/>
        </p:nvSpPr>
        <p:spPr>
          <a:xfrm>
            <a:off x="8238744" y="4242816"/>
            <a:ext cx="292608" cy="29260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38744" y="424281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95944" y="4169663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If Budget Consumed is amber/red, drill into the Cost per Service chart to find the driver.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Good to know &amp; getting 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475569"/>
                </a:solidFill>
                <a:latin typeface="Calibri"/>
              </a:rPr>
              <a:t>Small print that keeps you productive.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OpsGuardian · Production Support &amp; Cost Insights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6675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563EB"/>
                </a:solidFill>
                <a:latin typeface="Calibri"/>
              </a:rPr>
              <a:t>TIPS &amp;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5394960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5394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Calibri"/>
              </a:rPr>
              <a:t>Know the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The UI is read-only in v1 — no job restarts or ticket acknowledgements from 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319272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AI analysis is a strong assistant, not infallible — confirm severity/remediation before acting.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941064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Cost data lags a few hours; live status does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65960"/>
            <a:ext cx="5394960" cy="2651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965960"/>
            <a:ext cx="5394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F172A"/>
                </a:solidFill>
                <a:latin typeface="Calibri"/>
              </a:rPr>
              <a:t>Good habits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269748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Always check the project selector first — most “empty page” confusion is a project mismatch.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319272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After an AI ticket is created the buttons lock to “Ticket Logged” — that is by design, to avoid duplicates.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941064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Use ⌘K → Refresh dashboard data when in doubt about freshness.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4500"/>
            </a:avLst>
          </a:prstGeom>
          <a:solidFill>
            <a:srgbClr val="0F172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Getting help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Dashboard access / broken pages  →  your platform or on-call team (quote the page, project and approximate time).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Incident content / ownership  →  in the ticket itself via the Jira / ServiceNow link from the Incident Center.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Calibri"/>
              </a:rPr>
              <a:t>Credentials &amp; access  →  your administrator (never share your password).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4572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One place for everything —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Pipeline health, incidents with AI root-cause analysis, and cost — scoped to your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Three pages cover your day —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Executive Overview (is it healthy?), Incident Center (what is open?), Cost Insights (are we on budget?).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4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The AI agent does the digging —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Failed run? Analyze logs, get the RCA, and file the Jira / ServiceNow ticket — all in a few clicks.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Safe by design —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Read-only in v1; the project filter and ticket links keep every action traceable.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1500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93C5FD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When in doubt — </a:t>
            </a:r>
            <a:r>
              <a:rPr sz="1500" b="0" i="0">
                <a:solidFill>
                  <a:srgbClr val="CBD5E1"/>
                </a:solidFill>
                <a:latin typeface="Calibri"/>
              </a:rPr>
              <a:t>Refresh via ⌘K, check the project selector, then contact your platform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OpsGuardian · End-User Guide v1.0 ·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